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58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26863-275E-4848-B322-0F9F266D26B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6C6C-5B28-46D5-BB05-E7CEFE4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52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26863-275E-4848-B322-0F9F266D26B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6C6C-5B28-46D5-BB05-E7CEFE4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7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26863-275E-4848-B322-0F9F266D26B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6C6C-5B28-46D5-BB05-E7CEFE4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9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26863-275E-4848-B322-0F9F266D26B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6C6C-5B28-46D5-BB05-E7CEFE4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87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26863-275E-4848-B322-0F9F266D26B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6C6C-5B28-46D5-BB05-E7CEFE4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2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26863-275E-4848-B322-0F9F266D26B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6C6C-5B28-46D5-BB05-E7CEFE4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61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26863-275E-4848-B322-0F9F266D26B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6C6C-5B28-46D5-BB05-E7CEFE4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26863-275E-4848-B322-0F9F266D26B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6C6C-5B28-46D5-BB05-E7CEFE4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73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26863-275E-4848-B322-0F9F266D26B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6C6C-5B28-46D5-BB05-E7CEFE4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53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26863-275E-4848-B322-0F9F266D26B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6C6C-5B28-46D5-BB05-E7CEFE4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87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26863-275E-4848-B322-0F9F266D26B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6C6C-5B28-46D5-BB05-E7CEFE4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38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26863-275E-4848-B322-0F9F266D26B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36C6C-5B28-46D5-BB05-E7CEFE4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88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SUPPLEMENTARY RESULTS SUMMARY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ACADEMIC YEAR </a:t>
            </a:r>
            <a:r>
              <a:rPr lang="en-US" sz="2800" b="1" dirty="0" smtClean="0"/>
              <a:t>2024/2025 </a:t>
            </a:r>
            <a:r>
              <a:rPr lang="en-US" sz="2800" b="1" dirty="0" smtClean="0"/>
              <a:t>– SEMESTER II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0559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NTA LEVEL 4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8942071"/>
              </p:ext>
            </p:extLst>
          </p:nvPr>
        </p:nvGraphicFramePr>
        <p:xfrm>
          <a:off x="838200" y="2126774"/>
          <a:ext cx="10681251" cy="4641780"/>
        </p:xfrm>
        <a:graphic>
          <a:graphicData uri="http://schemas.openxmlformats.org/drawingml/2006/table">
            <a:tbl>
              <a:tblPr/>
              <a:tblGrid>
                <a:gridCol w="3560417">
                  <a:extLst>
                    <a:ext uri="{9D8B030D-6E8A-4147-A177-3AD203B41FA5}">
                      <a16:colId xmlns:a16="http://schemas.microsoft.com/office/drawing/2014/main" val="3484078172"/>
                    </a:ext>
                  </a:extLst>
                </a:gridCol>
                <a:gridCol w="3560417">
                  <a:extLst>
                    <a:ext uri="{9D8B030D-6E8A-4147-A177-3AD203B41FA5}">
                      <a16:colId xmlns:a16="http://schemas.microsoft.com/office/drawing/2014/main" val="1985431528"/>
                    </a:ext>
                  </a:extLst>
                </a:gridCol>
                <a:gridCol w="3560417">
                  <a:extLst>
                    <a:ext uri="{9D8B030D-6E8A-4147-A177-3AD203B41FA5}">
                      <a16:colId xmlns:a16="http://schemas.microsoft.com/office/drawing/2014/main" val="3050295187"/>
                    </a:ext>
                  </a:extLst>
                </a:gridCol>
              </a:tblGrid>
              <a:tr h="386815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Student Results Summary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780916"/>
                  </a:ext>
                </a:extLst>
              </a:tr>
              <a:tr h="38681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ITEM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COUNT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455444"/>
                  </a:ext>
                </a:extLst>
              </a:tr>
              <a:tr h="38681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REGISTERED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30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100%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482084"/>
                  </a:ext>
                </a:extLst>
              </a:tr>
              <a:tr h="38681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PASS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19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63.3%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671940"/>
                  </a:ext>
                </a:extLst>
              </a:tr>
              <a:tr h="38681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SUPPLEMENTARY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963069"/>
                  </a:ext>
                </a:extLst>
              </a:tr>
              <a:tr h="38681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FAIL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6.7%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500258"/>
                  </a:ext>
                </a:extLst>
              </a:tr>
              <a:tr h="38681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REPEAT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9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30%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895831"/>
                  </a:ext>
                </a:extLst>
              </a:tr>
              <a:tr h="38681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WITHHELD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574803"/>
                  </a:ext>
                </a:extLst>
              </a:tr>
              <a:tr h="38681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NULLIFIED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761502"/>
                  </a:ext>
                </a:extLst>
              </a:tr>
              <a:tr h="38681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ABSCONDED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576014"/>
                  </a:ext>
                </a:extLst>
              </a:tr>
              <a:tr h="38681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INCOMPLETE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659072"/>
                  </a:ext>
                </a:extLst>
              </a:tr>
              <a:tr h="38681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ABSENT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762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26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Summary for each module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6019853"/>
              </p:ext>
            </p:extLst>
          </p:nvPr>
        </p:nvGraphicFramePr>
        <p:xfrm>
          <a:off x="838198" y="2126774"/>
          <a:ext cx="10515604" cy="4423112"/>
        </p:xfrm>
        <a:graphic>
          <a:graphicData uri="http://schemas.openxmlformats.org/drawingml/2006/table">
            <a:tbl>
              <a:tblPr/>
              <a:tblGrid>
                <a:gridCol w="2628901">
                  <a:extLst>
                    <a:ext uri="{9D8B030D-6E8A-4147-A177-3AD203B41FA5}">
                      <a16:colId xmlns:a16="http://schemas.microsoft.com/office/drawing/2014/main" val="3763635621"/>
                    </a:ext>
                  </a:extLst>
                </a:gridCol>
                <a:gridCol w="2628901">
                  <a:extLst>
                    <a:ext uri="{9D8B030D-6E8A-4147-A177-3AD203B41FA5}">
                      <a16:colId xmlns:a16="http://schemas.microsoft.com/office/drawing/2014/main" val="1269527269"/>
                    </a:ext>
                  </a:extLst>
                </a:gridCol>
                <a:gridCol w="2628901">
                  <a:extLst>
                    <a:ext uri="{9D8B030D-6E8A-4147-A177-3AD203B41FA5}">
                      <a16:colId xmlns:a16="http://schemas.microsoft.com/office/drawing/2014/main" val="1213365653"/>
                    </a:ext>
                  </a:extLst>
                </a:gridCol>
                <a:gridCol w="2628901">
                  <a:extLst>
                    <a:ext uri="{9D8B030D-6E8A-4147-A177-3AD203B41FA5}">
                      <a16:colId xmlns:a16="http://schemas.microsoft.com/office/drawing/2014/main" val="303423518"/>
                    </a:ext>
                  </a:extLst>
                </a:gridCol>
              </a:tblGrid>
              <a:tr h="552889">
                <a:tc gridSpan="4"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effectLst/>
                        </a:rPr>
                        <a:t>Subject </a:t>
                      </a:r>
                      <a:r>
                        <a:rPr lang="en-US" sz="2800" dirty="0">
                          <a:effectLst/>
                        </a:rPr>
                        <a:t>Results Summary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648960"/>
                  </a:ext>
                </a:extLst>
              </a:tr>
              <a:tr h="552889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MODULE CODE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COUNT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PASS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FAIL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31728"/>
                  </a:ext>
                </a:extLst>
              </a:tr>
              <a:tr h="552889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PST04208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03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03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180208"/>
                  </a:ext>
                </a:extLst>
              </a:tr>
              <a:tr h="552889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PST04209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29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24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05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812838"/>
                  </a:ext>
                </a:extLst>
              </a:tr>
              <a:tr h="5528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PST04210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01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01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945084"/>
                  </a:ext>
                </a:extLst>
              </a:tr>
              <a:tr h="5528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PST04211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12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04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08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962790"/>
                  </a:ext>
                </a:extLst>
              </a:tr>
              <a:tr h="5528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PST04212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188844"/>
                  </a:ext>
                </a:extLst>
              </a:tr>
              <a:tr h="5528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PST04213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694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84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NTA LEVEL 5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3900620"/>
              </p:ext>
            </p:extLst>
          </p:nvPr>
        </p:nvGraphicFramePr>
        <p:xfrm>
          <a:off x="838200" y="2126768"/>
          <a:ext cx="10515600" cy="4492692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3860109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0359526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34370289"/>
                    </a:ext>
                  </a:extLst>
                </a:gridCol>
              </a:tblGrid>
              <a:tr h="374391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Student Results Summary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354604"/>
                  </a:ext>
                </a:extLst>
              </a:tr>
              <a:tr h="37439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ITEM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COUNT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053226"/>
                  </a:ext>
                </a:extLst>
              </a:tr>
              <a:tr h="37439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REGISTERED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23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100%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332373"/>
                  </a:ext>
                </a:extLst>
              </a:tr>
              <a:tr h="37439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PASS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12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52.2%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861148"/>
                  </a:ext>
                </a:extLst>
              </a:tr>
              <a:tr h="37439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SUPPLEMENTARY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64976"/>
                  </a:ext>
                </a:extLst>
              </a:tr>
              <a:tr h="37439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FAIL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253363"/>
                  </a:ext>
                </a:extLst>
              </a:tr>
              <a:tr h="37439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REPEAT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11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47.8%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152991"/>
                  </a:ext>
                </a:extLst>
              </a:tr>
              <a:tr h="37439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WITHHELD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683518"/>
                  </a:ext>
                </a:extLst>
              </a:tr>
              <a:tr h="37439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NULLIFIED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275505"/>
                  </a:ext>
                </a:extLst>
              </a:tr>
              <a:tr h="37439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ABSCONDED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955513"/>
                  </a:ext>
                </a:extLst>
              </a:tr>
              <a:tr h="37439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INCOMPLETE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789"/>
                  </a:ext>
                </a:extLst>
              </a:tr>
              <a:tr h="37439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ABSENT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763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02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 for each module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3087581"/>
              </p:ext>
            </p:extLst>
          </p:nvPr>
        </p:nvGraphicFramePr>
        <p:xfrm>
          <a:off x="838200" y="2126774"/>
          <a:ext cx="10515600" cy="3816827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4386010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035952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343702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32029604"/>
                    </a:ext>
                  </a:extLst>
                </a:gridCol>
              </a:tblGrid>
              <a:tr h="545261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effectLst/>
                        </a:rPr>
                        <a:t>Subject </a:t>
                      </a:r>
                      <a:r>
                        <a:rPr lang="en-US" sz="2800" dirty="0">
                          <a:effectLst/>
                        </a:rPr>
                        <a:t>Results Summary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354604"/>
                  </a:ext>
                </a:extLst>
              </a:tr>
              <a:tr h="545261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MODULE CODE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COUNT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PASS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FAIL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053226"/>
                  </a:ext>
                </a:extLst>
              </a:tr>
              <a:tr h="545261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PST05207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23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effectLst/>
                        </a:rPr>
                        <a:t>13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10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332373"/>
                  </a:ext>
                </a:extLst>
              </a:tr>
              <a:tr h="545261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PST05208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01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01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861148"/>
                  </a:ext>
                </a:extLst>
              </a:tr>
              <a:tr h="5452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PST05209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04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03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01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64976"/>
                  </a:ext>
                </a:extLst>
              </a:tr>
              <a:tr h="5452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PST05210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06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03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03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253363"/>
                  </a:ext>
                </a:extLst>
              </a:tr>
              <a:tr h="5452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PST05211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152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085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NTA LEVEL 6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9155366"/>
              </p:ext>
            </p:extLst>
          </p:nvPr>
        </p:nvGraphicFramePr>
        <p:xfrm>
          <a:off x="838200" y="2126774"/>
          <a:ext cx="10515600" cy="42939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1348092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695285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65501556"/>
                    </a:ext>
                  </a:extLst>
                </a:gridCol>
              </a:tblGrid>
              <a:tr h="357825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Student </a:t>
                      </a:r>
                      <a:r>
                        <a:rPr lang="en-US" dirty="0">
                          <a:effectLst/>
                        </a:rPr>
                        <a:t>Results Summary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805527"/>
                  </a:ext>
                </a:extLst>
              </a:tr>
              <a:tr h="35782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ITEM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COUNT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957197"/>
                  </a:ext>
                </a:extLst>
              </a:tr>
              <a:tr h="35782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REGISTERED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100%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710102"/>
                  </a:ext>
                </a:extLst>
              </a:tr>
              <a:tr h="35782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PASS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25%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08743"/>
                  </a:ext>
                </a:extLst>
              </a:tr>
              <a:tr h="35782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SUPPLEMENTARY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033796"/>
                  </a:ext>
                </a:extLst>
              </a:tr>
              <a:tr h="35782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FAIL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485056"/>
                  </a:ext>
                </a:extLst>
              </a:tr>
              <a:tr h="35782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REPEAT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75%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407126"/>
                  </a:ext>
                </a:extLst>
              </a:tr>
              <a:tr h="35782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WITHHELD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259149"/>
                  </a:ext>
                </a:extLst>
              </a:tr>
              <a:tr h="35782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NULLIFIED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73734"/>
                  </a:ext>
                </a:extLst>
              </a:tr>
              <a:tr h="35782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ABSCONDED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151634"/>
                  </a:ext>
                </a:extLst>
              </a:tr>
              <a:tr h="35782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INCOMPLETE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966368"/>
                  </a:ext>
                </a:extLst>
              </a:tr>
              <a:tr h="35782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ABSENT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0%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153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6668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 for each module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0017576"/>
              </p:ext>
            </p:extLst>
          </p:nvPr>
        </p:nvGraphicFramePr>
        <p:xfrm>
          <a:off x="838200" y="2126774"/>
          <a:ext cx="10515600" cy="3816827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4386010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035952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343702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32029604"/>
                    </a:ext>
                  </a:extLst>
                </a:gridCol>
              </a:tblGrid>
              <a:tr h="545261">
                <a:tc gridSpan="3">
                  <a:txBody>
                    <a:bodyPr/>
                    <a:lstStyle/>
                    <a:p>
                      <a:pPr algn="ctr"/>
                      <a:r>
                        <a:rPr lang="en-US" sz="3200" dirty="0" smtClean="0">
                          <a:effectLst/>
                        </a:rPr>
                        <a:t>Subject </a:t>
                      </a:r>
                      <a:r>
                        <a:rPr lang="en-US" sz="3200" dirty="0">
                          <a:effectLst/>
                        </a:rPr>
                        <a:t>Results Summary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354604"/>
                  </a:ext>
                </a:extLst>
              </a:tr>
              <a:tr h="545261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MODULE CODE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COUNT</a:t>
                      </a: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PASS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FAIL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053226"/>
                  </a:ext>
                </a:extLst>
              </a:tr>
              <a:tr h="545261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PST06208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332373"/>
                  </a:ext>
                </a:extLst>
              </a:tr>
              <a:tr h="545261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PST06209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02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02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861148"/>
                  </a:ext>
                </a:extLst>
              </a:tr>
              <a:tr h="5452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PST06210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03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01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02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64976"/>
                  </a:ext>
                </a:extLst>
              </a:tr>
              <a:tr h="5452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PST06211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01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01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253363"/>
                  </a:ext>
                </a:extLst>
              </a:tr>
              <a:tr h="5452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PST06212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effectLst/>
                        </a:rPr>
                        <a:t>00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9050" marB="1905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152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18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256</Words>
  <Application>Microsoft Office PowerPoint</Application>
  <PresentationFormat>Widescreen</PresentationFormat>
  <Paragraphs>189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SUPPLEMENTARY RESULTS SUMMARY</vt:lpstr>
      <vt:lpstr>NTA LEVEL 4</vt:lpstr>
      <vt:lpstr>Summary for each module</vt:lpstr>
      <vt:lpstr>NTA LEVEL 5</vt:lpstr>
      <vt:lpstr>Summary for each module</vt:lpstr>
      <vt:lpstr>NTA LEVEL 6</vt:lpstr>
      <vt:lpstr>Summary for each module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SUPPLEMENTARY RESULTS SUMMARY</dc:title>
  <dc:creator>DAMIAN LAURENT</dc:creator>
  <cp:lastModifiedBy>DAMIAN LAURENT</cp:lastModifiedBy>
  <cp:revision>9</cp:revision>
  <dcterms:created xsi:type="dcterms:W3CDTF">2026-01-21T09:22:49Z</dcterms:created>
  <dcterms:modified xsi:type="dcterms:W3CDTF">2026-01-21T09:58:47Z</dcterms:modified>
</cp:coreProperties>
</file>